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Pathfinding Algorithms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9800"/>
                </a:solidFill>
              </a:defRPr>
            </a:pPr>
            <a:r>
              <a:t>Comparing Uninformed and Informed Search Strategies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9E1E7-4F0F-29E0-578F-B7CC650A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523" y="5271134"/>
            <a:ext cx="1598477" cy="1586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Introduction to Pathfinding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Pathfinding is the process of finding the shortest or most efficient route between two points.</a:t>
            </a:r>
          </a:p>
          <a:p>
            <a:pPr>
              <a:spcAft>
                <a:spcPts val="1000"/>
              </a:spcAft>
              <a:defRPr sz="2000"/>
            </a:pPr>
            <a:r>
              <a:t>In AI, this is modeled as a State Space Search problem.</a:t>
            </a:r>
          </a:p>
          <a:p>
            <a:pPr>
              <a:spcAft>
                <a:spcPts val="1000"/>
              </a:spcAft>
              <a:defRPr sz="2000"/>
            </a:pPr>
            <a:r>
              <a:t>Core Components:</a:t>
            </a:r>
          </a:p>
          <a:p>
            <a:pPr>
              <a:spcAft>
                <a:spcPts val="1000"/>
              </a:spcAft>
              <a:defRPr sz="2000"/>
            </a:pPr>
            <a:r>
              <a:t> • Initial State: Starting position.</a:t>
            </a:r>
          </a:p>
          <a:p>
            <a:pPr>
              <a:spcAft>
                <a:spcPts val="1000"/>
              </a:spcAft>
              <a:defRPr sz="2000"/>
            </a:pPr>
            <a:r>
              <a:t> • Goal State: Desired destination.</a:t>
            </a:r>
          </a:p>
          <a:p>
            <a:pPr>
              <a:spcAft>
                <a:spcPts val="1000"/>
              </a:spcAft>
              <a:defRPr sz="2000"/>
            </a:pPr>
            <a:r>
              <a:t> • Actions/Transitions: Moving from one state to another.</a:t>
            </a:r>
          </a:p>
          <a:p>
            <a:pPr>
              <a:spcAft>
                <a:spcPts val="1000"/>
              </a:spcAft>
              <a:defRPr sz="2000"/>
            </a:pPr>
            <a:r>
              <a:t> • Path Cost: Numerical value representing distance, time, or energy.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5CAEA-6ADE-2D73-6333-7BC3105F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781" y="5214836"/>
            <a:ext cx="1672219" cy="1660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Search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365760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16246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rPr dirty="0"/>
              <a:t>Uninformed Search (Blind)</a:t>
            </a:r>
          </a:p>
          <a:p>
            <a:br>
              <a:rPr dirty="0"/>
            </a:br>
            <a:r>
              <a:rPr dirty="0"/>
              <a:t>No domain-specific knowledge. Only knows </a:t>
            </a:r>
            <a:endParaRPr lang="en-US" dirty="0"/>
          </a:p>
          <a:p>
            <a:r>
              <a:rPr lang="en-IN" dirty="0"/>
              <a:t>the goal state and tries to optimise the path</a:t>
            </a:r>
          </a:p>
          <a:p>
            <a:r>
              <a:rPr lang="en-IN" dirty="0"/>
              <a:t>to it.</a:t>
            </a:r>
            <a:br>
              <a:rPr dirty="0"/>
            </a:br>
            <a:br>
              <a:rPr dirty="0"/>
            </a:br>
            <a:r>
              <a:rPr dirty="0"/>
              <a:t>Examples:</a:t>
            </a:r>
            <a:br>
              <a:rPr dirty="0"/>
            </a:br>
            <a:r>
              <a:rPr dirty="0"/>
              <a:t>• BFS (Breadth-First)</a:t>
            </a:r>
            <a:br>
              <a:rPr dirty="0"/>
            </a:br>
            <a:r>
              <a:rPr dirty="0"/>
              <a:t>• DFS (Depth-First)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572000" cy="36576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443268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rPr dirty="0"/>
              <a:t>Informed Search (Heuristic)</a:t>
            </a:r>
          </a:p>
          <a:p>
            <a:br>
              <a:rPr dirty="0"/>
            </a:br>
            <a:r>
              <a:rPr dirty="0"/>
              <a:t>Uses 'hints' (heuristics) to estimate how close</a:t>
            </a:r>
            <a:endParaRPr lang="en-US" dirty="0"/>
          </a:p>
          <a:p>
            <a:r>
              <a:rPr lang="en-IN" dirty="0"/>
              <a:t>it is to the goal state.</a:t>
            </a:r>
            <a:br>
              <a:rPr dirty="0"/>
            </a:br>
            <a:br>
              <a:rPr dirty="0"/>
            </a:br>
            <a:r>
              <a:rPr dirty="0"/>
              <a:t>Examples:</a:t>
            </a:r>
            <a:br>
              <a:rPr dirty="0"/>
            </a:br>
            <a:r>
              <a:rPr dirty="0"/>
              <a:t>• Greedy Best-First Search</a:t>
            </a:r>
            <a:br>
              <a:rPr dirty="0"/>
            </a:br>
            <a:r>
              <a:rPr dirty="0"/>
              <a:t>• A* Algorithm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0FAC14-C48B-D4E4-7A23-4AB50ABB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382" y="5234838"/>
            <a:ext cx="1662387" cy="1650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Breadth-First Search (BFS)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Explores all nodes at the current depth level before moving to the next level.</a:t>
            </a:r>
          </a:p>
          <a:p>
            <a:pPr>
              <a:spcBef>
                <a:spcPts val="1000"/>
              </a:spcBef>
              <a:defRPr sz="2000"/>
            </a:pPr>
            <a:r>
              <a:t>• Mechanism: Uses a Queue (FIFO).</a:t>
            </a:r>
          </a:p>
          <a:p>
            <a:pPr>
              <a:spcBef>
                <a:spcPts val="1000"/>
              </a:spcBef>
              <a:defRPr sz="2000"/>
            </a:pPr>
            <a:r>
              <a:t>• Completeness: Guarantees finding a solution if one exists.</a:t>
            </a:r>
          </a:p>
          <a:p>
            <a:pPr>
              <a:spcBef>
                <a:spcPts val="1000"/>
              </a:spcBef>
              <a:defRPr sz="2000"/>
            </a:pPr>
            <a:r>
              <a:t>• Optimality: Finds the shortest path if all step costs are equal.</a:t>
            </a:r>
          </a:p>
          <a:p>
            <a:pPr>
              <a:spcBef>
                <a:spcPts val="1000"/>
              </a:spcBef>
              <a:defRPr sz="2000"/>
            </a:pPr>
            <a:r>
              <a:t>• Drawback: High memory usage (stores all nodes at a level).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31C6A7-FD59-26D4-5DEB-A1B2502DF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486400"/>
            <a:ext cx="1426413" cy="1416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Depth-First Search (DFS)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Explores as far as possible along each branch before backtracking.</a:t>
            </a:r>
          </a:p>
          <a:p>
            <a:pPr>
              <a:spcBef>
                <a:spcPts val="1000"/>
              </a:spcBef>
              <a:defRPr sz="2000"/>
            </a:pPr>
            <a:r>
              <a:t>• Mechanism: Uses a Stack (LIFO).</a:t>
            </a:r>
          </a:p>
          <a:p>
            <a:pPr>
              <a:spcBef>
                <a:spcPts val="1000"/>
              </a:spcBef>
              <a:defRPr sz="2000"/>
            </a:pPr>
            <a:r>
              <a:t>• Completeness: Not guaranteed in infinite state spaces.</a:t>
            </a:r>
          </a:p>
          <a:p>
            <a:pPr>
              <a:spcBef>
                <a:spcPts val="1000"/>
              </a:spcBef>
              <a:defRPr sz="2000"/>
            </a:pPr>
            <a:r>
              <a:t>• Memory: Efficient; only stores the current path.</a:t>
            </a:r>
          </a:p>
          <a:p>
            <a:pPr>
              <a:spcBef>
                <a:spcPts val="1000"/>
              </a:spcBef>
              <a:defRPr sz="2000"/>
            </a:pPr>
            <a:r>
              <a:t>• Drawback: Can get stuck in deep branches; not optimal.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1E720-6846-DDD4-D329-21A5AACC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302" y="5197472"/>
            <a:ext cx="1687393" cy="1675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The A*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/>
            </a:pPr>
            <a:r>
              <a:t>Combines the benefits of BFS and Greedy 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f(n) = g(n) + h(n)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5603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g(n): Actual cost from start to node n.</a:t>
            </a:r>
          </a:p>
          <a:p>
            <a:pPr>
              <a:spcAft>
                <a:spcPts val="1000"/>
              </a:spcAft>
              <a:defRPr sz="2000"/>
            </a:pPr>
            <a:r>
              <a:t>h(n): Estimated cost from n to goal (Heuristic).</a:t>
            </a:r>
          </a:p>
          <a:p>
            <a:pPr>
              <a:spcAft>
                <a:spcPts val="1000"/>
              </a:spcAft>
              <a:defRPr sz="2000"/>
            </a:pPr>
            <a:r>
              <a:t>A* is Complete and Optimal if h(n) is admissible (never overestimates).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324D5-8877-2F31-366E-FFF37571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269" y="5568459"/>
            <a:ext cx="1308426" cy="12989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Algorithm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Optimal?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Complete?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BFS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O(b^d)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O(b^d)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(Unit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O(b^m)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Exponential*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Exponential*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DC1114A-11AC-007A-80CF-C8C7D93F1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182" y="5665276"/>
            <a:ext cx="1261513" cy="12523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Real-World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A237E"/>
                </a:solidFill>
              </a:defRPr>
            </a:pPr>
            <a:r>
              <a:t>GPS Navigation: </a:t>
            </a:r>
            <a:r>
              <a:rPr b="0"/>
              <a:t>Calculating shortest paths in road networks (Google Maps).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A237E"/>
                </a:solidFill>
              </a:defRPr>
            </a:pPr>
            <a:r>
              <a:t>Game AI: </a:t>
            </a:r>
            <a:r>
              <a:rPr b="0"/>
              <a:t>NPC (Non-Player Character) movement and pathing around obstacles.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A237E"/>
                </a:solidFill>
              </a:defRPr>
            </a:pPr>
            <a:r>
              <a:t>Robotics: </a:t>
            </a:r>
            <a:r>
              <a:rPr b="0"/>
              <a:t>Autonomous vacuum cleaners and factory robots navigating rooms.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A237E"/>
                </a:solidFill>
              </a:defRPr>
            </a:pPr>
            <a:r>
              <a:t>Network Routing: </a:t>
            </a:r>
            <a:r>
              <a:rPr b="0"/>
              <a:t>Data packet transmission through internet nodes for efficiency.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789A82-7728-FB5C-BEF4-9B45F5E6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5773783"/>
            <a:ext cx="1092150" cy="1084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200"/>
            </a:pPr>
            <a:r>
              <a:t>• Uninformed algorithms like BFS and DFS are foundational but often inefficient for large spaces.</a:t>
            </a:r>
          </a:p>
          <a:p>
            <a:pPr>
              <a:spcAft>
                <a:spcPts val="1500"/>
              </a:spcAft>
              <a:defRPr sz="2200"/>
            </a:pPr>
            <a:r>
              <a:t>• Informed search (A*) leverages heuristics to drastically reduce the search space.</a:t>
            </a:r>
          </a:p>
          <a:p>
            <a:pPr>
              <a:spcAft>
                <a:spcPts val="1500"/>
              </a:spcAft>
              <a:defRPr sz="2200"/>
            </a:pPr>
            <a:r>
              <a:t>• The choice of algorithm depends on resource constraints (Memory vs. Time) and the need for optimality.</a:t>
            </a:r>
          </a:p>
          <a:p>
            <a:pPr>
              <a:spcAft>
                <a:spcPts val="1500"/>
              </a:spcAft>
              <a:defRPr sz="2200"/>
            </a:pPr>
            <a:r>
              <a:t>• Modern pathfinding continues to evolve with dynamic and multi-agent systems.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C02F1-92A7-50FF-06C2-827331365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729" y="5763507"/>
            <a:ext cx="1200271" cy="1191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532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aarokyakumar12@gmail.com</cp:lastModifiedBy>
  <cp:revision>2</cp:revision>
  <dcterms:created xsi:type="dcterms:W3CDTF">2013-01-27T09:14:16Z</dcterms:created>
  <dcterms:modified xsi:type="dcterms:W3CDTF">2026-03-27T09:09:24Z</dcterms:modified>
  <cp:category/>
</cp:coreProperties>
</file>